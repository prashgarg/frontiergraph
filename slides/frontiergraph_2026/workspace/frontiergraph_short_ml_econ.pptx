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rashgarg/frontiergraph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3" Type="http://schemas.openxmlformats.org/officeDocument/2006/relationships/slide" Target="slide14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3" Type="http://schemas.openxmlformats.org/officeDocument/2006/relationships/slide" Target="slide14.xm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3" Type="http://schemas.openxmlformats.org/officeDocument/2006/relationships/slide" Target="slide14.xm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3" Type="http://schemas.openxmlformats.org/officeDocument/2006/relationships/slide" Target="slide13.xm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3" Type="http://schemas.openxmlformats.org/officeDocument/2006/relationships/slide" Target="slide15.xml"/><Relationship Id="rId1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5.xml"/><Relationship Id="rId2" Type="http://schemas.openxmlformats.org/officeDocument/2006/relationships/slide" Target="slide1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3" Type="http://schemas.openxmlformats.org/officeDocument/2006/relationships/slide" Target="slide9.xml"/><Relationship Id="rId1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4" Type="http://schemas.openxmlformats.org/officeDocument/2006/relationships/slide" Target="slide6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4" Type="http://schemas.openxmlformats.org/officeDocument/2006/relationships/slide" Target="slide11.xm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68680"/>
            <a:ext cx="822960" cy="41148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1280160"/>
            <a:ext cx="731520" cy="-36576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280160"/>
            <a:ext cx="1280160" cy="36576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914400"/>
            <a:ext cx="1463040" cy="13716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822960"/>
            <a:ext cx="731520" cy="50292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0" y="1325880"/>
            <a:ext cx="731520" cy="-41148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1325880"/>
            <a:ext cx="365760" cy="59436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868680"/>
            <a:ext cx="146304" cy="14630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1280160"/>
            <a:ext cx="100584" cy="100584"/>
          </a:xfrm>
          <a:prstGeom prst="ellipse">
            <a:avLst/>
          </a:prstGeom>
          <a:solidFill>
            <a:srgbClr val="E8D8B5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914400"/>
            <a:ext cx="100584" cy="10058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645920"/>
            <a:ext cx="146304" cy="146304"/>
          </a:xfrm>
          <a:prstGeom prst="ellipse">
            <a:avLst/>
          </a:prstGeom>
          <a:solidFill>
            <a:srgbClr val="E8D8B5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051560"/>
            <a:ext cx="100584" cy="10058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822960"/>
            <a:ext cx="100584" cy="100584"/>
          </a:xfrm>
          <a:prstGeom prst="ellipse">
            <a:avLst/>
          </a:prstGeom>
          <a:solidFill>
            <a:srgbClr val="E8D8B5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1325880"/>
            <a:ext cx="146304" cy="14630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914400"/>
            <a:ext cx="100584" cy="100584"/>
          </a:xfrm>
          <a:prstGeom prst="ellipse">
            <a:avLst/>
          </a:prstGeom>
          <a:solidFill>
            <a:srgbClr val="E8D8B5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0" y="1920240"/>
            <a:ext cx="100584" cy="10058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914400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F38"/>
                </a:solidFill>
              </a:rPr>
              <a:t>What Should Economics Ask Next?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" y="17556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38"/>
                </a:solidFill>
              </a:rPr>
              <a:t>Prashant Garg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" y="1993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280"/>
                </a:solidFill>
              </a:rPr>
              <a:t>Imperial College London</a:t>
            </a:r>
            <a:endParaRPr lang="en-US" sz="1100" dirty="0"/>
          </a:p>
        </p:txBody>
      </p:sp>
      <p:sp>
        <p:nvSpPr>
          <p:cNvPr id="21" name="Text 19">
            <a:hlinkClick r:id="rId1" tooltip="Project repository"/>
          </p:cNvPr>
          <p:cNvSpPr/>
          <p:nvPr/>
        </p:nvSpPr>
        <p:spPr>
          <a:xfrm>
            <a:off x="676656" y="221284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426DA9"/>
                </a:solidFill>
                <a:hlinkClick r:id="rId1" invalidUrl="" action="" tgtFrame="" tooltip="Project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github.com/prashgarg/frontiergraph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27889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7280"/>
                </a:solidFill>
              </a:rPr>
              <a:t>Economics, machine learning, and metascience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868680"/>
            <a:ext cx="4663440" cy="4526280"/>
          </a:xfrm>
          <a:prstGeom prst="roundRect">
            <a:avLst>
              <a:gd name="adj" fmla="val 1010"/>
            </a:avLst>
          </a:prstGeom>
          <a:solidFill>
            <a:srgbClr val="FFF8EE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38"/>
                </a:solidFill>
              </a:rPr>
              <a:t>Question choice is the scarce input.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32320" y="1810512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78624" y="1737360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work leaves structured gaps.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32320" y="228600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221284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later papers add mechanisms.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32320" y="276148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624" y="2688336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 make direct links explicit.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32320" y="323697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3163824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helps decide what to inspect first.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choice remains weakly formalized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572768"/>
            <a:ext cx="9866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what to work on is one of the least formalized decisions in science.</a:t>
            </a:r>
            <a:endParaRPr lang="en-US" sz="1340" dirty="0"/>
          </a:p>
        </p:txBody>
      </p:sp>
      <p:sp>
        <p:nvSpPr>
          <p:cNvPr id="7" name="Shape 5"/>
          <p:cNvSpPr/>
          <p:nvPr/>
        </p:nvSpPr>
        <p:spPr>
          <a:xfrm>
            <a:off x="868680" y="232257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249424"/>
            <a:ext cx="9866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stock of published work is large, fragmented, and hard to navigate.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868680" y="2999232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926080"/>
            <a:ext cx="9866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Researchers still face a conservative-search bias even when riskier moves matter.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868680" y="367588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3602736"/>
            <a:ext cx="9866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AI lowers downstream costs, the bottleneck shifts further upstream toward question choice.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1024128" y="489204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Jones (2009); Bloom et al. (2020); Foster, Rzhetsky, and Evans (2015)</a:t>
            </a:r>
            <a:endParaRPr lang="en-US" sz="850" dirty="0"/>
          </a:p>
        </p:txBody>
      </p:sp>
      <p:sp>
        <p:nvSpPr>
          <p:cNvPr id="14" name="Shape 12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5" name="Text 13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paper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6583680" cy="3108960"/>
          </a:xfrm>
          <a:prstGeom prst="roundRect">
            <a:avLst>
              <a:gd name="adj" fmla="val 1471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18488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build and test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50976" y="1837944"/>
            <a:ext cx="6181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dated graph + walk-forward evaluation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50976" y="220370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3055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dated graph from published economics-facing papers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0976" y="297180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89864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paper-local extraction, then cross-paper matching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373989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6674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still-open questions are ranked at t and checked against later publication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1417320"/>
            <a:ext cx="3822192" cy="3108960"/>
          </a:xfrm>
          <a:prstGeom prst="roundRect">
            <a:avLst>
              <a:gd name="adj" fmla="val 1471"/>
            </a:avLst>
          </a:prstGeom>
          <a:solidFill>
            <a:srgbClr val="FFF8EE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1618488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learn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36408" y="1837944"/>
            <a:ext cx="3419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substantive result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36408" y="220370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2130552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helps in two distinct historical families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836408" y="311810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2712" y="3044952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economics more often thickens mechanisms than later states locally implied direct links</a:t>
            </a:r>
            <a:endParaRPr lang="en-US" sz="1180" dirty="0"/>
          </a:p>
        </p:txBody>
      </p:sp>
      <p:sp>
        <p:nvSpPr>
          <p:cNvPr id="21" name="Shape 19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2" name="Text 20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Empirical object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dated question objects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34440"/>
            <a:ext cx="5212080" cy="3886200"/>
          </a:xfrm>
          <a:prstGeom prst="roundRect">
            <a:avLst>
              <a:gd name="adj" fmla="val 117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2784" y="1234440"/>
            <a:ext cx="5212080" cy="3886200"/>
          </a:xfrm>
          <a:prstGeom prst="roundRect">
            <a:avLst>
              <a:gd name="adj" fmla="val 117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727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6DA9"/>
                </a:solidFill>
              </a:rPr>
              <a:t>Direct-to-path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73952" y="15727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849"/>
                </a:solidFill>
              </a:rPr>
              <a:t>Path-to-direct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1975104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901952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literature already contains a direct relation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32688" y="2633472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560320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work adds a clearer mediating path around it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32688" y="3291840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218688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mechanism-thickening object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473952" y="197510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1901952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literature already contains nearby support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473952" y="2633472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2560320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direct relation itself is still missing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473952" y="329184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3218688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work states that direct link explicitly</a:t>
            </a:r>
            <a:endParaRPr lang="en-US" sz="1220" dirty="0"/>
          </a:p>
        </p:txBody>
      </p:sp>
      <p:sp>
        <p:nvSpPr>
          <p:cNvPr id="21" name="Shape 19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2" name="Text 20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bridge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published papers to dated candidate questions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1737360" cy="1097280"/>
          </a:xfrm>
          <a:prstGeom prst="roundRect">
            <a:avLst>
              <a:gd name="adj" fmla="val 3333"/>
            </a:avLst>
          </a:prstGeom>
          <a:solidFill>
            <a:srgbClr val="EEF3FB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304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F38"/>
                </a:solidFill>
              </a:rPr>
              <a:t>papers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24328" y="2322576"/>
            <a:ext cx="310896" cy="274320"/>
          </a:xfrm>
          <a:prstGeom prst="chevron">
            <a:avLst/>
          </a:prstGeom>
          <a:solidFill>
            <a:srgbClr val="E8D8B5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1965960"/>
            <a:ext cx="1737360" cy="1097280"/>
          </a:xfrm>
          <a:prstGeom prst="roundRect">
            <a:avLst>
              <a:gd name="adj" fmla="val 3333"/>
            </a:avLst>
          </a:prstGeom>
          <a:solidFill>
            <a:srgbClr val="EEF3FB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1528" y="2304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F38"/>
                </a:solidFill>
              </a:rPr>
              <a:t>paper-local graphs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27448" y="2322576"/>
            <a:ext cx="310896" cy="274320"/>
          </a:xfrm>
          <a:prstGeom prst="chevron">
            <a:avLst/>
          </a:prstGeom>
          <a:solidFill>
            <a:srgbClr val="E8D8B5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965960"/>
            <a:ext cx="1737360" cy="1097280"/>
          </a:xfrm>
          <a:prstGeom prst="roundRect">
            <a:avLst>
              <a:gd name="adj" fmla="val 3333"/>
            </a:avLst>
          </a:prstGeom>
          <a:solidFill>
            <a:srgbClr val="FFF8EE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0408" y="2304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F38"/>
                </a:solidFill>
              </a:rPr>
              <a:t>shared graph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96328" y="2322576"/>
            <a:ext cx="310896" cy="274320"/>
          </a:xfrm>
          <a:prstGeom prst="chevron">
            <a:avLst/>
          </a:prstGeom>
          <a:solidFill>
            <a:srgbClr val="E8D8B5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965960"/>
            <a:ext cx="1737360" cy="1097280"/>
          </a:xfrm>
          <a:prstGeom prst="roundRect">
            <a:avLst>
              <a:gd name="adj" fmla="val 3333"/>
            </a:avLst>
          </a:prstGeom>
          <a:solidFill>
            <a:srgbClr val="FFF8EE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2304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F38"/>
                </a:solidFill>
              </a:rPr>
              <a:t>dated candidates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36608" y="2322576"/>
            <a:ext cx="310896" cy="274320"/>
          </a:xfrm>
          <a:prstGeom prst="chevron">
            <a:avLst/>
          </a:prstGeom>
          <a:solidFill>
            <a:srgbClr val="E8D8B5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0" y="1965960"/>
            <a:ext cx="1325880" cy="1097280"/>
          </a:xfrm>
          <a:prstGeom prst="roundRect">
            <a:avLst>
              <a:gd name="adj" fmla="val 3333"/>
            </a:avLst>
          </a:prstGeom>
          <a:solidFill>
            <a:srgbClr val="FFF8EE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22408" y="2304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F38"/>
                </a:solidFill>
              </a:rPr>
              <a:t>future realization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B2F38"/>
                </a:solidFill>
              </a:rPr>
              <a:t>Freeze the literature at t-1, rank still-open directed questions, then check which later appear during [t, t+h].</a:t>
            </a:r>
            <a:endParaRPr lang="en-US" sz="1220" dirty="0"/>
          </a:p>
        </p:txBody>
      </p:sp>
      <p:sp>
        <p:nvSpPr>
          <p:cNvPr id="20" name="Shape 18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1" name="Text 19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paper becomes a local graph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7899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excerpt -&gt; one paper-local graph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298448"/>
            <a:ext cx="10561320" cy="4160520"/>
          </a:xfrm>
          <a:prstGeom prst="roundRect">
            <a:avLst>
              <a:gd name="adj" fmla="val 65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paper/mermaid/method_figur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8991" y="1353312"/>
            <a:ext cx="6169259" cy="4050792"/>
          </a:xfrm>
          <a:prstGeom prst="rect">
            <a:avLst/>
          </a:prstGeom>
        </p:spPr>
      </p:pic>
      <p:sp>
        <p:nvSpPr>
          <p:cNvPr id="8" name="Shape 5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9" name="Text 6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questions only exist after cross-paper matching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78992"/>
            <a:ext cx="10652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paper-local graphs -&gt; one shared candidate neighborhood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298448"/>
            <a:ext cx="10652760" cy="4206240"/>
          </a:xfrm>
          <a:prstGeom prst="roundRect">
            <a:avLst>
              <a:gd name="adj" fmla="val 652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paper/mermaid/method_figure_3_cus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728" y="1353312"/>
            <a:ext cx="5879784" cy="4096512"/>
          </a:xfrm>
          <a:prstGeom prst="rect">
            <a:avLst/>
          </a:prstGeom>
        </p:spPr>
      </p:pic>
      <p:sp>
        <p:nvSpPr>
          <p:cNvPr id="8" name="Shape 5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9" name="Text 6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logic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benchmark event is narrower than the surfaced question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15568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gets backtested versus what a reader would inspect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335024"/>
            <a:ext cx="10378440" cy="4069080"/>
          </a:xfrm>
          <a:prstGeom prst="roundRect">
            <a:avLst>
              <a:gd name="adj" fmla="val 674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paper/mermaid/method_figure_5_cus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9248" y="1389888"/>
            <a:ext cx="7408744" cy="3959352"/>
          </a:xfrm>
          <a:prstGeom prst="rect">
            <a:avLst/>
          </a:prstGeom>
        </p:spPr>
      </p:pic>
      <p:sp>
        <p:nvSpPr>
          <p:cNvPr id="8" name="Shape 5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9" name="Text 6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improves on popularity in both families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01498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short-list benchmark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1234440"/>
            <a:ext cx="10972800" cy="3931920"/>
          </a:xfrm>
          <a:prstGeom prst="roundRect">
            <a:avLst>
              <a:gd name="adj" fmla="val 698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49_dual_family_main_pairing/dual_family_main_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8775" y="1289304"/>
            <a:ext cx="5141714" cy="3822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543153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5358384"/>
            <a:ext cx="10826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Direct-to-path yields denser shortlists: more later realizations per 100 suggestions.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822960" y="585216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5779008"/>
            <a:ext cx="10826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Path-to-direct captures a larger share of all later-realized links; reranking improves both.</a:t>
            </a:r>
            <a:endParaRPr lang="en-US" sz="1220" dirty="0"/>
          </a:p>
        </p:txBody>
      </p:sp>
      <p:sp>
        <p:nvSpPr>
          <p:cNvPr id="12" name="Shape 9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3" name="Text 10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Substantive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thickening is more common than direct closure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06424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two forms of progress compare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561320" cy="4069080"/>
          </a:xfrm>
          <a:prstGeom prst="roundRect">
            <a:avLst>
              <a:gd name="adj" fmla="val 674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38_path_evolution_refresh/figures/path_evolution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944" y="1380744"/>
            <a:ext cx="7581913" cy="3959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548640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2B2F38"/>
                </a:solidFill>
              </a:rPr>
              <a:t>The literature more often deepens mechanisms around existing claims than later closes locally implied direct links.</a:t>
            </a:r>
            <a:endParaRPr lang="en-US" sz="1240" dirty="0"/>
          </a:p>
        </p:txBody>
      </p:sp>
      <p:sp>
        <p:nvSpPr>
          <p:cNvPr id="9" name="Shape 6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frontier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graph surfaces now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25880"/>
            <a:ext cx="4983480" cy="4526280"/>
          </a:xfrm>
          <a:prstGeom prst="roundRect">
            <a:avLst>
              <a:gd name="adj" fmla="val 1010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727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6DA9"/>
                </a:solidFill>
              </a:rPr>
              <a:t>Direct-to-path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013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</a:rPr>
              <a:t>known relation, missing mechanism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249424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176272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digital financial inclusion support employment through labour matching or market access?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1005840" y="3127248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3054096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tax refunds lift productivity through liquidity and investment?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1005840" y="4005072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931920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nutrition information shift willingness to pay through health-salience channels?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236208" y="1325880"/>
            <a:ext cx="4983480" cy="4526280"/>
          </a:xfrm>
          <a:prstGeom prst="roundRect">
            <a:avLst>
              <a:gd name="adj" fmla="val 1010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5727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849"/>
                </a:solidFill>
              </a:rPr>
              <a:t>Path-to-direct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18013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</a:rPr>
              <a:t>nearby support, missing direct relation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224942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2176272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trade liberalization raise R&amp;D?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492240" y="312724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3054096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the digital economy strengthen environmental regulation?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6492240" y="4005072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3931920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renewable energy reshape urbanization?</a:t>
            </a:r>
            <a:endParaRPr lang="en-US" sz="1160" dirty="0"/>
          </a:p>
        </p:txBody>
      </p:sp>
      <p:sp>
        <p:nvSpPr>
          <p:cNvPr id="23" name="Shape 21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4" name="Text 22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built and learned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90472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417320"/>
            <a:ext cx="9637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 dated graph from published economics-facing papers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350008"/>
            <a:ext cx="9637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two benchmarkable forms of still-open next questions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822960" y="335584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282696"/>
            <a:ext cx="9637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showed that graph structure helps when reading time is scarce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22960" y="428853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4215384"/>
            <a:ext cx="9637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 that the literature more often thickens mechanisms than it later states locally implied direct links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692640" y="59253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26DA9"/>
                </a:solidFill>
              </a:rPr>
              <a:t>Thank you</a:t>
            </a:r>
            <a:endParaRPr lang="en-US" sz="1300" dirty="0"/>
          </a:p>
        </p:txBody>
      </p:sp>
      <p:sp>
        <p:nvSpPr>
          <p:cNvPr id="14" name="Shape 12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5" name="Text 13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detail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789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benchmark result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1298448"/>
            <a:ext cx="10972800" cy="4343400"/>
          </a:xfrm>
          <a:prstGeom prst="roundRect">
            <a:avLst>
              <a:gd name="adj" fmla="val 632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49_dual_family_main_pairing/dual_family_main_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584" y="1353312"/>
            <a:ext cx="5695248" cy="42336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detail: paired main benchmark.</a:t>
            </a:r>
            <a:endParaRPr lang="en-US" sz="850" dirty="0"/>
          </a:p>
        </p:txBody>
      </p:sp>
      <p:sp>
        <p:nvSpPr>
          <p:cNvPr id="9" name="Shape 6">
            <a:hlinkClick r:id="rId2" tooltip="Back to main" action="ppaction://hlinksldjump"/>
          </p:cNvPr>
          <p:cNvSpPr/>
          <p:nvPr/>
        </p:nvSpPr>
        <p:spPr>
          <a:xfrm>
            <a:off x="10588752" y="25603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Back to main" action="ppaction://hlinksldjump"/>
          </p:cNvPr>
          <p:cNvSpPr/>
          <p:nvPr/>
        </p:nvSpPr>
        <p:spPr>
          <a:xfrm>
            <a:off x="10588752" y="2788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Back to m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main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detail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14984"/>
            <a:ext cx="5257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 and matching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1234440"/>
            <a:ext cx="5257800" cy="4160520"/>
          </a:xfrm>
          <a:prstGeom prst="roundRect">
            <a:avLst>
              <a:gd name="adj" fmla="val 65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paper/mermaid/method_figure_3_cus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21340"/>
            <a:ext cx="5148072" cy="3586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1014984"/>
            <a:ext cx="5257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anchor versus surfaced question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234440"/>
            <a:ext cx="5257800" cy="4160520"/>
          </a:xfrm>
          <a:prstGeom prst="roundRect">
            <a:avLst>
              <a:gd name="adj" fmla="val 65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10" name="Image 1" descr="/Users/prashgarg/Library/CloudStorage/Dropbox-PrashantGarg/Prashant Garg/GraphDir/paper/mermaid/method_figure_5_cus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1939094"/>
            <a:ext cx="5148072" cy="27512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detail: methodology figures.</a:t>
            </a:r>
            <a:endParaRPr lang="en-US" sz="850" dirty="0"/>
          </a:p>
        </p:txBody>
      </p:sp>
      <p:sp>
        <p:nvSpPr>
          <p:cNvPr id="12" name="Shape 8">
            <a:hlinkClick r:id="rId3" tooltip="Back to main" action="ppaction://hlinksldjump"/>
          </p:cNvPr>
          <p:cNvSpPr/>
          <p:nvPr/>
        </p:nvSpPr>
        <p:spPr>
          <a:xfrm>
            <a:off x="10588752" y="25603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3" name="Text 9">
            <a:hlinkClick r:id="rId4" tooltip="Back to main" action="ppaction://hlinksldjump"/>
          </p:cNvPr>
          <p:cNvSpPr/>
          <p:nvPr/>
        </p:nvSpPr>
        <p:spPr>
          <a:xfrm>
            <a:off x="10588752" y="2788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Back to m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main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empirical views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69264"/>
            <a:ext cx="5257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frontier summary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1188720"/>
            <a:ext cx="5257800" cy="4297680"/>
          </a:xfrm>
          <a:prstGeom prst="roundRect">
            <a:avLst>
              <a:gd name="adj" fmla="val 638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54_dual_family_extension_pairing/dual_family_current_frontier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32727"/>
            <a:ext cx="5148072" cy="22096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99632" y="969264"/>
            <a:ext cx="5257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usefulness screen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188720"/>
            <a:ext cx="5257800" cy="4297680"/>
          </a:xfrm>
          <a:prstGeom prst="roundRect">
            <a:avLst>
              <a:gd name="adj" fmla="val 638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10" name="Image 1" descr="/Users/prashgarg/Library/CloudStorage/Dropbox-PrashantGarg/Prashant Garg/GraphDir/outputs/paper/164_paired_historical_usefulness_comparison/paired_historical_usefulness_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950486"/>
            <a:ext cx="5148072" cy="27741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detail: surfaced examples and workflow screen.</a:t>
            </a:r>
            <a:endParaRPr lang="en-US" sz="850" dirty="0"/>
          </a:p>
        </p:txBody>
      </p:sp>
      <p:sp>
        <p:nvSpPr>
          <p:cNvPr id="12" name="Shape 8">
            <a:hlinkClick r:id="rId3" tooltip="Back to main" action="ppaction://hlinksldjump"/>
          </p:cNvPr>
          <p:cNvSpPr/>
          <p:nvPr/>
        </p:nvSpPr>
        <p:spPr>
          <a:xfrm>
            <a:off x="10588752" y="25603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3" name="Text 9">
            <a:hlinkClick r:id="rId4" tooltip="Back to main" action="ppaction://hlinksldjump"/>
          </p:cNvPr>
          <p:cNvSpPr/>
          <p:nvPr/>
        </p:nvSpPr>
        <p:spPr>
          <a:xfrm>
            <a:off x="10588752" y="2788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Back to m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main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Should Economics Ask Next?</dc:title>
  <dc:subject>FrontierGraph seminar deck</dc:subject>
  <dc:creator>Prashant Garg</dc:creator>
  <cp:lastModifiedBy>Prashant Garg</cp:lastModifiedBy>
  <cp:revision>1</cp:revision>
  <dcterms:created xsi:type="dcterms:W3CDTF">2026-04-12T21:47:58Z</dcterms:created>
  <dcterms:modified xsi:type="dcterms:W3CDTF">2026-04-12T21:47:58Z</dcterms:modified>
</cp:coreProperties>
</file>