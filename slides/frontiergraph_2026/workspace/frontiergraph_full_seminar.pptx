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prashgarg/frontiergraph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20.xml"/><Relationship Id="rId2" Type="http://schemas.openxmlformats.org/officeDocument/2006/relationships/slide" Target="slide2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20.xml"/><Relationship Id="rId2" Type="http://schemas.openxmlformats.org/officeDocument/2006/relationships/slide" Target="slide2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20.xml"/><Relationship Id="rId2" Type="http://schemas.openxmlformats.org/officeDocument/2006/relationships/slide" Target="slide2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20.xml"/><Relationship Id="rId2" Type="http://schemas.openxmlformats.org/officeDocument/2006/relationships/slide" Target="slide2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3" Type="http://schemas.openxmlformats.org/officeDocument/2006/relationships/slide" Target="slide20.xm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3" Type="http://schemas.openxmlformats.org/officeDocument/2006/relationships/slide" Target="slide20.xml"/><Relationship Id="rId1" Type="http://schemas.openxmlformats.org/officeDocument/2006/relationships/image" Target="../media/image-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3" Type="http://schemas.openxmlformats.org/officeDocument/2006/relationships/slide" Target="slide20.xml"/><Relationship Id="rId1" Type="http://schemas.openxmlformats.org/officeDocument/2006/relationships/image" Target="../media/image-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3" Type="http://schemas.openxmlformats.org/officeDocument/2006/relationships/slide" Target="slide20.xml"/><Relationship Id="rId1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20.xml"/><Relationship Id="rId2" Type="http://schemas.openxmlformats.org/officeDocument/2006/relationships/slide" Target="slide2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3" Type="http://schemas.openxmlformats.org/officeDocument/2006/relationships/slide" Target="slide20.xml"/><Relationship Id="rId1" Type="http://schemas.openxmlformats.org/officeDocument/2006/relationships/image" Target="../media/image-1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3" Type="http://schemas.openxmlformats.org/officeDocument/2006/relationships/slide" Target="slide20.xml"/><Relationship Id="rId1" Type="http://schemas.openxmlformats.org/officeDocument/2006/relationships/image" Target="../media/image-1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3" Type="http://schemas.openxmlformats.org/officeDocument/2006/relationships/slide" Target="slide20.xml"/><Relationship Id="rId1" Type="http://schemas.openxmlformats.org/officeDocument/2006/relationships/image" Target="../media/image-1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20.xml"/><Relationship Id="rId2" Type="http://schemas.openxmlformats.org/officeDocument/2006/relationships/slide" Target="slide2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" Target="slide20.xml"/><Relationship Id="rId2" Type="http://schemas.openxmlformats.org/officeDocument/2006/relationships/slide" Target="slide2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" Target="slide20.xml"/><Relationship Id="rId2" Type="http://schemas.openxmlformats.org/officeDocument/2006/relationships/slide" Target="slide2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20.xml"/><Relationship Id="rId2" Type="http://schemas.openxmlformats.org/officeDocument/2006/relationships/slide" Target="slide2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" Target="slide20.xml"/><Relationship Id="rId2" Type="http://schemas.openxmlformats.org/officeDocument/2006/relationships/slide" Target="slide2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" Target="slide20.xml"/><Relationship Id="rId2" Type="http://schemas.openxmlformats.org/officeDocument/2006/relationships/slide" Target="slide2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3" Type="http://schemas.openxmlformats.org/officeDocument/2006/relationships/slide" Target="slide11.xml"/><Relationship Id="rId1" Type="http://schemas.openxmlformats.org/officeDocument/2006/relationships/image" Target="../media/image-20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3" Type="http://schemas.openxmlformats.org/officeDocument/2006/relationships/slide" Target="slide15.xml"/><Relationship Id="rId1" Type="http://schemas.openxmlformats.org/officeDocument/2006/relationships/image" Target="../media/image-2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3" Type="http://schemas.openxmlformats.org/officeDocument/2006/relationships/slide" Target="slide18.xml"/><Relationship Id="rId1" Type="http://schemas.openxmlformats.org/officeDocument/2006/relationships/image" Target="../media/image-2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68680"/>
            <a:ext cx="822960" cy="411480"/>
          </a:xfrm>
          <a:prstGeom prst="line">
            <a:avLst/>
          </a:prstGeom>
          <a:noFill/>
          <a:ln w="12700">
            <a:solidFill>
              <a:srgbClr val="D8C6A2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1280160"/>
            <a:ext cx="731520" cy="-365760"/>
          </a:xfrm>
          <a:prstGeom prst="line">
            <a:avLst/>
          </a:prstGeom>
          <a:noFill/>
          <a:ln w="12700">
            <a:solidFill>
              <a:srgbClr val="D8C6A2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1280160"/>
            <a:ext cx="1280160" cy="365760"/>
          </a:xfrm>
          <a:prstGeom prst="line">
            <a:avLst/>
          </a:prstGeom>
          <a:noFill/>
          <a:ln w="12700">
            <a:solidFill>
              <a:srgbClr val="D8C6A2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914400"/>
            <a:ext cx="1463040" cy="137160"/>
          </a:xfrm>
          <a:prstGeom prst="line">
            <a:avLst/>
          </a:prstGeom>
          <a:noFill/>
          <a:ln w="12700">
            <a:solidFill>
              <a:srgbClr val="D8C6A2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0" y="822960"/>
            <a:ext cx="731520" cy="502920"/>
          </a:xfrm>
          <a:prstGeom prst="line">
            <a:avLst/>
          </a:prstGeom>
          <a:noFill/>
          <a:ln w="12700">
            <a:solidFill>
              <a:srgbClr val="D8C6A2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0" y="1325880"/>
            <a:ext cx="731520" cy="-411480"/>
          </a:xfrm>
          <a:prstGeom prst="line">
            <a:avLst/>
          </a:prstGeom>
          <a:noFill/>
          <a:ln w="12700">
            <a:solidFill>
              <a:srgbClr val="D8C6A2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0" y="1325880"/>
            <a:ext cx="365760" cy="594360"/>
          </a:xfrm>
          <a:prstGeom prst="line">
            <a:avLst/>
          </a:prstGeom>
          <a:noFill/>
          <a:ln w="12700">
            <a:solidFill>
              <a:srgbClr val="D8C6A2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868680"/>
            <a:ext cx="146304" cy="146304"/>
          </a:xfrm>
          <a:prstGeom prst="ellipse">
            <a:avLst/>
          </a:prstGeom>
          <a:solidFill>
            <a:srgbClr val="DCE6F4">
              <a:alpha val="88000"/>
            </a:srgbClr>
          </a:solidFill>
          <a:ln w="12700">
            <a:solidFill>
              <a:srgbClr val="D8C6A2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1280160"/>
            <a:ext cx="100584" cy="100584"/>
          </a:xfrm>
          <a:prstGeom prst="ellipse">
            <a:avLst/>
          </a:prstGeom>
          <a:solidFill>
            <a:srgbClr val="E8D8B5">
              <a:alpha val="88000"/>
            </a:srgbClr>
          </a:solidFill>
          <a:ln w="12700">
            <a:solidFill>
              <a:srgbClr val="D8C6A2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914400"/>
            <a:ext cx="100584" cy="100584"/>
          </a:xfrm>
          <a:prstGeom prst="ellipse">
            <a:avLst/>
          </a:prstGeom>
          <a:solidFill>
            <a:srgbClr val="DCE6F4">
              <a:alpha val="88000"/>
            </a:srgbClr>
          </a:solidFill>
          <a:ln w="12700">
            <a:solidFill>
              <a:srgbClr val="D8C6A2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1645920"/>
            <a:ext cx="146304" cy="146304"/>
          </a:xfrm>
          <a:prstGeom prst="ellipse">
            <a:avLst/>
          </a:prstGeom>
          <a:solidFill>
            <a:srgbClr val="E8D8B5">
              <a:alpha val="88000"/>
            </a:srgbClr>
          </a:solidFill>
          <a:ln w="12700">
            <a:solidFill>
              <a:srgbClr val="D8C6A2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1051560"/>
            <a:ext cx="100584" cy="100584"/>
          </a:xfrm>
          <a:prstGeom prst="ellipse">
            <a:avLst/>
          </a:prstGeom>
          <a:solidFill>
            <a:srgbClr val="DCE6F4">
              <a:alpha val="88000"/>
            </a:srgbClr>
          </a:solidFill>
          <a:ln w="12700">
            <a:solidFill>
              <a:srgbClr val="D8C6A2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09760" y="822960"/>
            <a:ext cx="100584" cy="100584"/>
          </a:xfrm>
          <a:prstGeom prst="ellipse">
            <a:avLst/>
          </a:prstGeom>
          <a:solidFill>
            <a:srgbClr val="E8D8B5">
              <a:alpha val="88000"/>
            </a:srgbClr>
          </a:solidFill>
          <a:ln w="12700">
            <a:solidFill>
              <a:srgbClr val="D8C6A2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0" y="1325880"/>
            <a:ext cx="146304" cy="146304"/>
          </a:xfrm>
          <a:prstGeom prst="ellipse">
            <a:avLst/>
          </a:prstGeom>
          <a:solidFill>
            <a:srgbClr val="DCE6F4">
              <a:alpha val="88000"/>
            </a:srgbClr>
          </a:solidFill>
          <a:ln w="12700">
            <a:solidFill>
              <a:srgbClr val="D8C6A2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0" y="914400"/>
            <a:ext cx="100584" cy="100584"/>
          </a:xfrm>
          <a:prstGeom prst="ellipse">
            <a:avLst/>
          </a:prstGeom>
          <a:solidFill>
            <a:srgbClr val="E8D8B5">
              <a:alpha val="88000"/>
            </a:srgbClr>
          </a:solidFill>
          <a:ln w="12700">
            <a:solidFill>
              <a:srgbClr val="D8C6A2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07040" y="1920240"/>
            <a:ext cx="100584" cy="100584"/>
          </a:xfrm>
          <a:prstGeom prst="ellipse">
            <a:avLst/>
          </a:prstGeom>
          <a:solidFill>
            <a:srgbClr val="DCE6F4">
              <a:alpha val="88000"/>
            </a:srgbClr>
          </a:solidFill>
          <a:ln w="12700">
            <a:solidFill>
              <a:srgbClr val="D8C6A2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91440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F38"/>
                </a:solidFill>
              </a:rPr>
              <a:t>What Should Science Ask Next?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94944" y="1783080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8"/>
                </a:solidFill>
              </a:rPr>
              <a:t>Prashant Garg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944" y="19933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280"/>
                </a:solidFill>
              </a:rPr>
              <a:t>Imperial College London</a:t>
            </a:r>
            <a:endParaRPr lang="en-US" sz="900" dirty="0"/>
          </a:p>
        </p:txBody>
      </p:sp>
      <p:sp>
        <p:nvSpPr>
          <p:cNvPr id="21" name="Text 19">
            <a:hlinkClick r:id="rId1" tooltip="Project repository"/>
          </p:cNvPr>
          <p:cNvSpPr/>
          <p:nvPr/>
        </p:nvSpPr>
        <p:spPr>
          <a:xfrm>
            <a:off x="694944" y="2212848"/>
            <a:ext cx="3291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426DA9"/>
                </a:solidFill>
                <a:hlinkClick r:id="rId1" invalidUrl="" action="" tgtFrame="" tooltip="Project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github.com/prashgarg/frontiergraph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94944" y="278892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A7280"/>
                </a:solidFill>
              </a:rPr>
              <a:t>Economics seminar version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75120" y="868680"/>
            <a:ext cx="4709160" cy="4572000"/>
          </a:xfrm>
          <a:prstGeom prst="roundRect">
            <a:avLst>
              <a:gd name="adj" fmla="val 1000"/>
            </a:avLst>
          </a:prstGeom>
          <a:solidFill>
            <a:srgbClr val="FFF8EE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22592" y="1399032"/>
            <a:ext cx="73152" cy="73152"/>
          </a:xfrm>
          <a:prstGeom prst="ellipse">
            <a:avLst/>
          </a:prstGeom>
          <a:solidFill>
            <a:srgbClr val="537A66"/>
          </a:solidFill>
          <a:ln w="12700">
            <a:solidFill>
              <a:srgbClr val="537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68896" y="1325880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choice is under-formalized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7022592" y="2075688"/>
            <a:ext cx="73152" cy="73152"/>
          </a:xfrm>
          <a:prstGeom prst="ellipse">
            <a:avLst/>
          </a:prstGeom>
          <a:solidFill>
            <a:srgbClr val="537A66"/>
          </a:solidFill>
          <a:ln w="12700">
            <a:solidFill>
              <a:srgbClr val="537A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68896" y="2002536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literature is large and fragmented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7022592" y="2752344"/>
            <a:ext cx="73152" cy="73152"/>
          </a:xfrm>
          <a:prstGeom prst="ellipse">
            <a:avLst/>
          </a:prstGeom>
          <a:solidFill>
            <a:srgbClr val="537A66"/>
          </a:solidFill>
          <a:ln w="12700">
            <a:solidFill>
              <a:srgbClr val="537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68896" y="2679192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progress adds mechanisms, some states direct links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7022592" y="3429000"/>
            <a:ext cx="73152" cy="73152"/>
          </a:xfrm>
          <a:prstGeom prst="ellipse">
            <a:avLst/>
          </a:prstGeom>
          <a:solidFill>
            <a:srgbClr val="537A66"/>
          </a:solidFill>
          <a:ln w="12700">
            <a:solidFill>
              <a:srgbClr val="537A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68896" y="3355848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graph helps rank what may be worth reading first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502920" y="6492240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seminar draft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choice is a science-wide bottleneck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426464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353312"/>
            <a:ext cx="5340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Choosing what to work on is one of the least formalized decisions in science.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841248" y="2084832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011680"/>
            <a:ext cx="5340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burden of existing knowledge keeps rising as the stock of work grows.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841248" y="2743200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670048"/>
            <a:ext cx="5340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Conservative search dominates even when riskier exploration matters disproportionately.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841248" y="3401568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328416"/>
            <a:ext cx="5340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AI lowers downstream costs, the scarce input shifts upstream toward question choice.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629400" y="1234440"/>
            <a:ext cx="4846320" cy="3611880"/>
          </a:xfrm>
          <a:prstGeom prst="roundRect">
            <a:avLst>
              <a:gd name="adj" fmla="val 1266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30568" y="1435608"/>
            <a:ext cx="4443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anchor ideas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30568" y="1655064"/>
            <a:ext cx="4443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is not just an economics problem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30568" y="2020824"/>
            <a:ext cx="73152" cy="73152"/>
          </a:xfrm>
          <a:prstGeom prst="ellipse">
            <a:avLst/>
          </a:prstGeom>
          <a:solidFill>
            <a:srgbClr val="426DA9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76872" y="194767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burden rises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30568" y="2734056"/>
            <a:ext cx="73152" cy="73152"/>
          </a:xfrm>
          <a:prstGeom prst="ellipse">
            <a:avLst/>
          </a:prstGeom>
          <a:solidFill>
            <a:srgbClr val="426DA9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76872" y="266090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ideas get harder to find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30568" y="3447288"/>
            <a:ext cx="73152" cy="73152"/>
          </a:xfrm>
          <a:prstGeom prst="ellipse">
            <a:avLst/>
          </a:prstGeom>
          <a:solidFill>
            <a:srgbClr val="426DA9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76872" y="337413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scientists still search conservatively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03720" y="4370832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Jones (2009); Bloom et al. (2020); Foster, Rzhetsky, and Evans (2015)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02920" y="6492240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 connects science-wide concerns to an economics-facing empirical testbed.</a:t>
            </a:r>
            <a:endParaRPr lang="en-US" sz="700" dirty="0"/>
          </a:p>
        </p:txBody>
      </p:sp>
      <p:sp>
        <p:nvSpPr>
          <p:cNvPr id="24" name="Shape 22">
            <a:hlinkClick r:id="rId1" tooltip="Appendix" action="ppaction://hlinksldjump"/>
          </p:cNvPr>
          <p:cNvSpPr/>
          <p:nvPr/>
        </p:nvSpPr>
        <p:spPr>
          <a:xfrm>
            <a:off x="10863072" y="25603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25" name="Text 23">
            <a:hlinkClick r:id="rId2" tooltip="Appendix" action="ppaction://hlinksldjump"/>
          </p:cNvPr>
          <p:cNvSpPr/>
          <p:nvPr/>
        </p:nvSpPr>
        <p:spPr>
          <a:xfrm>
            <a:off x="10863072" y="2788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action="ppaction://hlinksldjump" tooltip="Appendi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Appendix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setting?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499616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426464"/>
            <a:ext cx="5477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paper uses a published economics-facing corpus because it gives dated, realized research structure.</a:t>
            </a:r>
            <a:endParaRPr lang="en-US" sz="1090" dirty="0"/>
          </a:p>
        </p:txBody>
      </p:sp>
      <p:sp>
        <p:nvSpPr>
          <p:cNvPr id="7" name="Shape 5"/>
          <p:cNvSpPr/>
          <p:nvPr/>
        </p:nvSpPr>
        <p:spPr>
          <a:xfrm>
            <a:off x="841248" y="2286000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212848"/>
            <a:ext cx="5477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makes missing-question backtesting possible without mixing in draft noise.</a:t>
            </a:r>
            <a:endParaRPr lang="en-US" sz="1090" dirty="0"/>
          </a:p>
        </p:txBody>
      </p:sp>
      <p:sp>
        <p:nvSpPr>
          <p:cNvPr id="9" name="Shape 7"/>
          <p:cNvSpPr/>
          <p:nvPr/>
        </p:nvSpPr>
        <p:spPr>
          <a:xfrm>
            <a:off x="841248" y="3072384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999232"/>
            <a:ext cx="5477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object is economics-facing, but the broader question is science-wide.</a:t>
            </a:r>
            <a:endParaRPr lang="en-US" sz="1090" dirty="0"/>
          </a:p>
        </p:txBody>
      </p:sp>
      <p:sp>
        <p:nvSpPr>
          <p:cNvPr id="11" name="Shape 9"/>
          <p:cNvSpPr/>
          <p:nvPr/>
        </p:nvSpPr>
        <p:spPr>
          <a:xfrm>
            <a:off x="6656832" y="1325880"/>
            <a:ext cx="4754880" cy="3200400"/>
          </a:xfrm>
          <a:prstGeom prst="roundRect">
            <a:avLst>
              <a:gd name="adj" fmla="val 1429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527048"/>
            <a:ext cx="4352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published papers?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0" y="1746504"/>
            <a:ext cx="4352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setting buys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58000" y="2112264"/>
            <a:ext cx="73152" cy="73152"/>
          </a:xfrm>
          <a:prstGeom prst="ellipse">
            <a:avLst/>
          </a:prstGeom>
          <a:solidFill>
            <a:srgbClr val="537A66"/>
          </a:solidFill>
          <a:ln w="12700">
            <a:solidFill>
              <a:srgbClr val="537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04304" y="203911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dated structure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0" y="2825496"/>
            <a:ext cx="73152" cy="73152"/>
          </a:xfrm>
          <a:prstGeom prst="ellipse">
            <a:avLst/>
          </a:prstGeom>
          <a:solidFill>
            <a:srgbClr val="537A66"/>
          </a:solidFill>
          <a:ln w="12700">
            <a:solidFill>
              <a:srgbClr val="537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04304" y="275234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realizations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3538728"/>
            <a:ext cx="73152" cy="73152"/>
          </a:xfrm>
          <a:prstGeom prst="ellipse">
            <a:avLst/>
          </a:prstGeom>
          <a:solidFill>
            <a:srgbClr val="537A66"/>
          </a:solidFill>
          <a:ln w="12700">
            <a:solidFill>
              <a:srgbClr val="537A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04304" y="346557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prospective evaluation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03720" y="4133088"/>
            <a:ext cx="4206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B2F38"/>
                </a:solidFill>
              </a:rPr>
              <a:t>Narrow enough to interpret, broad enough to matter.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6492240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empirical testbed is narrow enough to be interpretable and broad enough to matter.</a:t>
            </a:r>
            <a:endParaRPr lang="en-US" sz="700" dirty="0"/>
          </a:p>
        </p:txBody>
      </p:sp>
      <p:sp>
        <p:nvSpPr>
          <p:cNvPr id="22" name="Shape 20">
            <a:hlinkClick r:id="rId1" tooltip="Appendix" action="ppaction://hlinksldjump"/>
          </p:cNvPr>
          <p:cNvSpPr/>
          <p:nvPr/>
        </p:nvSpPr>
        <p:spPr>
          <a:xfrm>
            <a:off x="10863072" y="25603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23" name="Text 21">
            <a:hlinkClick r:id="rId2" tooltip="Appendix" action="ppaction://hlinksldjump"/>
          </p:cNvPr>
          <p:cNvSpPr/>
          <p:nvPr/>
        </p:nvSpPr>
        <p:spPr>
          <a:xfrm>
            <a:off x="10863072" y="2788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action="ppaction://hlinksldjump" tooltip="Appendi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Appendix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paper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325880"/>
            <a:ext cx="3200400" cy="2926080"/>
          </a:xfrm>
          <a:prstGeom prst="roundRect">
            <a:avLst>
              <a:gd name="adj" fmla="val 1563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527048"/>
            <a:ext cx="2798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build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50976" y="1746504"/>
            <a:ext cx="2798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object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50976" y="2112264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3911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dated graph from published economics-facing papers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950976" y="2898648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8254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paper-local extraction, then cross-paper matching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4187952" y="1325880"/>
            <a:ext cx="3200400" cy="2926080"/>
          </a:xfrm>
          <a:prstGeom prst="roundRect">
            <a:avLst>
              <a:gd name="adj" fmla="val 1563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527048"/>
            <a:ext cx="2798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test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389120" y="1746504"/>
            <a:ext cx="2798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screen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389120" y="2112264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35424" y="203911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still-open next questions using only the literature observed at date t-1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4389120" y="2898648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35424" y="28254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them prospectively against later publication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7626096" y="1325880"/>
            <a:ext cx="3200400" cy="2926080"/>
          </a:xfrm>
          <a:prstGeom prst="roundRect">
            <a:avLst>
              <a:gd name="adj" fmla="val 1563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27264" y="1527048"/>
            <a:ext cx="2798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learn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827264" y="1746504"/>
            <a:ext cx="2798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substantive implication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827264" y="2112264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73568" y="203911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graph helps in two distinct historical families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7827264" y="2898648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73568" y="28254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historical result reveals which kind of scientific movement is more common</a:t>
            </a: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1024128" y="4590288"/>
            <a:ext cx="10058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i="1" dirty="0">
                <a:solidFill>
                  <a:srgbClr val="2B2F38"/>
                </a:solidFill>
              </a:rPr>
              <a:t>The seminar centers the substantive interpretation, not only the benchmark.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502920" y="6492240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seminar centers the substantive interpretation, not only the benchmark.</a:t>
            </a:r>
            <a:endParaRPr lang="en-US" sz="700" dirty="0"/>
          </a:p>
        </p:txBody>
      </p:sp>
      <p:sp>
        <p:nvSpPr>
          <p:cNvPr id="28" name="Shape 26">
            <a:hlinkClick r:id="rId1" tooltip="Appendix" action="ppaction://hlinksldjump"/>
          </p:cNvPr>
          <p:cNvSpPr/>
          <p:nvPr/>
        </p:nvSpPr>
        <p:spPr>
          <a:xfrm>
            <a:off x="10863072" y="25603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29" name="Text 27">
            <a:hlinkClick r:id="rId2" tooltip="Appendix" action="ppaction://hlinksldjump"/>
          </p:cNvPr>
          <p:cNvSpPr/>
          <p:nvPr/>
        </p:nvSpPr>
        <p:spPr>
          <a:xfrm>
            <a:off x="10863072" y="2788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action="ppaction://hlinksldjump" tooltip="Appendi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Appendix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and object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pipeline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1737360" cy="1051560"/>
          </a:xfrm>
          <a:prstGeom prst="roundRect">
            <a:avLst>
              <a:gd name="adj" fmla="val 3478"/>
            </a:avLst>
          </a:prstGeom>
          <a:solidFill>
            <a:srgbClr val="EEF3FB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22219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F38"/>
                </a:solidFill>
              </a:rPr>
              <a:t>papers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24328" y="2221992"/>
            <a:ext cx="310896" cy="274320"/>
          </a:xfrm>
          <a:prstGeom prst="chevron">
            <a:avLst/>
          </a:prstGeom>
          <a:solidFill>
            <a:srgbClr val="E8D8B5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71800" y="1920240"/>
            <a:ext cx="1737360" cy="1051560"/>
          </a:xfrm>
          <a:prstGeom prst="roundRect">
            <a:avLst>
              <a:gd name="adj" fmla="val 3478"/>
            </a:avLst>
          </a:prstGeom>
          <a:solidFill>
            <a:srgbClr val="EEF3FB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81528" y="22219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F38"/>
                </a:solidFill>
              </a:rPr>
              <a:t>paper-local graphs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27448" y="2221992"/>
            <a:ext cx="310896" cy="274320"/>
          </a:xfrm>
          <a:prstGeom prst="chevron">
            <a:avLst/>
          </a:prstGeom>
          <a:solidFill>
            <a:srgbClr val="E8D8B5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0680" y="1920240"/>
            <a:ext cx="1737360" cy="1051560"/>
          </a:xfrm>
          <a:prstGeom prst="roundRect">
            <a:avLst>
              <a:gd name="adj" fmla="val 3478"/>
            </a:avLst>
          </a:prstGeom>
          <a:solidFill>
            <a:srgbClr val="FFF8EE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50408" y="22219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F38"/>
                </a:solidFill>
              </a:rPr>
              <a:t>shared graph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96328" y="2221992"/>
            <a:ext cx="310896" cy="274320"/>
          </a:xfrm>
          <a:prstGeom prst="chevron">
            <a:avLst/>
          </a:prstGeom>
          <a:solidFill>
            <a:srgbClr val="E8D8B5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1920240"/>
            <a:ext cx="1737360" cy="1051560"/>
          </a:xfrm>
          <a:prstGeom prst="roundRect">
            <a:avLst>
              <a:gd name="adj" fmla="val 3478"/>
            </a:avLst>
          </a:prstGeom>
          <a:solidFill>
            <a:srgbClr val="FFF8EE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0688" y="22219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F38"/>
                </a:solidFill>
              </a:rPr>
              <a:t>dated candidates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436608" y="2221992"/>
            <a:ext cx="310896" cy="274320"/>
          </a:xfrm>
          <a:prstGeom prst="chevron">
            <a:avLst/>
          </a:prstGeom>
          <a:solidFill>
            <a:srgbClr val="E8D8B5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12680" y="1920240"/>
            <a:ext cx="1325880" cy="1051560"/>
          </a:xfrm>
          <a:prstGeom prst="roundRect">
            <a:avLst>
              <a:gd name="adj" fmla="val 3478"/>
            </a:avLst>
          </a:prstGeom>
          <a:solidFill>
            <a:srgbClr val="FFF8EE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22408" y="22219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F38"/>
                </a:solidFill>
              </a:rPr>
              <a:t>future realization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" y="3730752"/>
            <a:ext cx="73152" cy="73152"/>
          </a:xfrm>
          <a:prstGeom prst="ellipse">
            <a:avLst/>
          </a:prstGeom>
          <a:solidFill>
            <a:srgbClr val="537A66"/>
          </a:solidFill>
          <a:ln w="12700">
            <a:solidFill>
              <a:srgbClr val="537A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0704" y="3657600"/>
            <a:ext cx="9729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Extraction builds one local graph per paper.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4400" y="4261104"/>
            <a:ext cx="73152" cy="73152"/>
          </a:xfrm>
          <a:prstGeom prst="ellipse">
            <a:avLst/>
          </a:prstGeom>
          <a:solidFill>
            <a:srgbClr val="537A66"/>
          </a:solidFill>
          <a:ln w="12700">
            <a:solidFill>
              <a:srgbClr val="537A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" y="4187952"/>
            <a:ext cx="9729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Matching creates a shared concept space across papers.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4400" y="4791456"/>
            <a:ext cx="73152" cy="73152"/>
          </a:xfrm>
          <a:prstGeom prst="ellipse">
            <a:avLst/>
          </a:prstGeom>
          <a:solidFill>
            <a:srgbClr val="537A66"/>
          </a:solidFill>
          <a:ln w="12700">
            <a:solidFill>
              <a:srgbClr val="537A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0704" y="4718304"/>
            <a:ext cx="9729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generation freezes the graph at t-1 and ranks still-open directed questions.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6492240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full-paper object in one slide, before we split into the two historical families.</a:t>
            </a:r>
            <a:endParaRPr lang="en-US" sz="700" dirty="0"/>
          </a:p>
        </p:txBody>
      </p:sp>
      <p:sp>
        <p:nvSpPr>
          <p:cNvPr id="26" name="Shape 24">
            <a:hlinkClick r:id="rId1" tooltip="Appendix" action="ppaction://hlinksldjump"/>
          </p:cNvPr>
          <p:cNvSpPr/>
          <p:nvPr/>
        </p:nvSpPr>
        <p:spPr>
          <a:xfrm>
            <a:off x="10863072" y="25603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27" name="Text 25">
            <a:hlinkClick r:id="rId2" tooltip="Appendix" action="ppaction://hlinksldjump"/>
          </p:cNvPr>
          <p:cNvSpPr/>
          <p:nvPr/>
        </p:nvSpPr>
        <p:spPr>
          <a:xfrm>
            <a:off x="10863072" y="2788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action="ppaction://hlinksldjump" tooltip="Appendi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Appendix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paper becomes a local graph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14984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10698480" cy="4480560"/>
          </a:xfrm>
          <a:prstGeom prst="roundRect">
            <a:avLst>
              <a:gd name="adj" fmla="val 612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pic>
        <p:nvPicPr>
          <p:cNvPr id="7" name="Image 0" descr="/Users/prashgarg/Library/CloudStorage/Dropbox-PrashantGarg/Prashant Garg/GraphDir/paper/mermaid/method_figure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8144" y="1289304"/>
            <a:ext cx="6656672" cy="43708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492240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Paper-local extraction gives the first reusable object.</a:t>
            </a:r>
            <a:endParaRPr lang="en-US" sz="700" dirty="0"/>
          </a:p>
        </p:txBody>
      </p:sp>
      <p:sp>
        <p:nvSpPr>
          <p:cNvPr id="9" name="Shape 6">
            <a:hlinkClick r:id="rId2" tooltip="Appendix" action="ppaction://hlinksldjump"/>
          </p:cNvPr>
          <p:cNvSpPr/>
          <p:nvPr/>
        </p:nvSpPr>
        <p:spPr>
          <a:xfrm>
            <a:off x="10863072" y="25603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10" name="Text 7">
            <a:hlinkClick r:id="rId3" tooltip="Appendix" action="ppaction://hlinksldjump"/>
          </p:cNvPr>
          <p:cNvSpPr/>
          <p:nvPr/>
        </p:nvSpPr>
        <p:spPr>
          <a:xfrm>
            <a:off x="10863072" y="2788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action="ppaction://hlinksldjump" tooltip="Appendi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Appendix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questions appear only after cross-paper matching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14984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10698480" cy="4480560"/>
          </a:xfrm>
          <a:prstGeom prst="roundRect">
            <a:avLst>
              <a:gd name="adj" fmla="val 612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pic>
        <p:nvPicPr>
          <p:cNvPr id="7" name="Image 0" descr="/Users/prashgarg/Library/CloudStorage/Dropbox-PrashantGarg/Prashant Garg/GraphDir/paper/mermaid/method_figure_3_cus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9720" y="1289304"/>
            <a:ext cx="6273519" cy="43708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492240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Cross-paper matching is what turns paper-local fragments into shared candidate structure.</a:t>
            </a:r>
            <a:endParaRPr lang="en-US" sz="700" dirty="0"/>
          </a:p>
        </p:txBody>
      </p:sp>
      <p:sp>
        <p:nvSpPr>
          <p:cNvPr id="9" name="Shape 6">
            <a:hlinkClick r:id="rId2" tooltip="Appendix" action="ppaction://hlinksldjump"/>
          </p:cNvPr>
          <p:cNvSpPr/>
          <p:nvPr/>
        </p:nvSpPr>
        <p:spPr>
          <a:xfrm>
            <a:off x="10863072" y="25603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10" name="Text 7">
            <a:hlinkClick r:id="rId3" tooltip="Appendix" action="ppaction://hlinksldjump"/>
          </p:cNvPr>
          <p:cNvSpPr/>
          <p:nvPr/>
        </p:nvSpPr>
        <p:spPr>
          <a:xfrm>
            <a:off x="10863072" y="2788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action="ppaction://hlinksldjump" tooltip="Appendi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Appendix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node normalization matters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14984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10698480" cy="4480560"/>
          </a:xfrm>
          <a:prstGeom prst="roundRect">
            <a:avLst>
              <a:gd name="adj" fmla="val 612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pic>
        <p:nvPicPr>
          <p:cNvPr id="7" name="Image 0" descr="/Users/prashgarg/Library/CloudStorage/Dropbox-PrashantGarg/Prashant Garg/GraphDir/paper/mermaid/method_figure_3_cus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9720" y="1289304"/>
            <a:ext cx="6273519" cy="43708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492240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Normalization is central because candidate generation, paths, and missingness all depend on concept identity.</a:t>
            </a:r>
            <a:endParaRPr lang="en-US" sz="700" dirty="0"/>
          </a:p>
        </p:txBody>
      </p:sp>
      <p:sp>
        <p:nvSpPr>
          <p:cNvPr id="9" name="Shape 6">
            <a:hlinkClick r:id="rId2" tooltip="Appendix" action="ppaction://hlinksldjump"/>
          </p:cNvPr>
          <p:cNvSpPr/>
          <p:nvPr/>
        </p:nvSpPr>
        <p:spPr>
          <a:xfrm>
            <a:off x="10863072" y="25603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10" name="Text 7">
            <a:hlinkClick r:id="rId3" tooltip="Appendix" action="ppaction://hlinksldjump"/>
          </p:cNvPr>
          <p:cNvSpPr/>
          <p:nvPr/>
        </p:nvSpPr>
        <p:spPr>
          <a:xfrm>
            <a:off x="10863072" y="2788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action="ppaction://hlinksldjump" tooltip="Appendi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Appendix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Empirical object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graph-grounded next-question objects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14984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10698480" cy="4480560"/>
          </a:xfrm>
          <a:prstGeom prst="roundRect">
            <a:avLst>
              <a:gd name="adj" fmla="val 612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pic>
        <p:nvPicPr>
          <p:cNvPr id="7" name="Image 0" descr="/Users/prashgarg/Library/CloudStorage/Dropbox-PrashantGarg/Prashant Garg/GraphDir/paper/mermaid/method_figure_5_cus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7127" y="1289304"/>
            <a:ext cx="8178706" cy="43708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492240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benchmark event is narrower than the surfaced question.</a:t>
            </a:r>
            <a:endParaRPr lang="en-US" sz="700" dirty="0"/>
          </a:p>
        </p:txBody>
      </p:sp>
      <p:sp>
        <p:nvSpPr>
          <p:cNvPr id="9" name="Shape 6">
            <a:hlinkClick r:id="rId2" tooltip="Appendix" action="ppaction://hlinksldjump"/>
          </p:cNvPr>
          <p:cNvSpPr/>
          <p:nvPr/>
        </p:nvSpPr>
        <p:spPr>
          <a:xfrm>
            <a:off x="10863072" y="25603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10" name="Text 7">
            <a:hlinkClick r:id="rId3" tooltip="Appendix" action="ppaction://hlinksldjump"/>
          </p:cNvPr>
          <p:cNvSpPr/>
          <p:nvPr/>
        </p:nvSpPr>
        <p:spPr>
          <a:xfrm>
            <a:off x="10863072" y="2788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action="ppaction://hlinksldjump" tooltip="Appendi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Appendix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evaluation design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426464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353312"/>
            <a:ext cx="10186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Freeze the graph at t-1.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41248" y="2084832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011680"/>
            <a:ext cx="10186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still-open directed candidates.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41248" y="2743200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670048"/>
            <a:ext cx="10186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which questions later appear during [t, t+h].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41248" y="3401568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328416"/>
            <a:ext cx="10186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benchmark event separate from the richer reader-facing surfaced question.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6492240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what makes the exercise prospective rather than narrative.</a:t>
            </a:r>
            <a:endParaRPr lang="en-US" sz="700" dirty="0"/>
          </a:p>
        </p:txBody>
      </p:sp>
      <p:sp>
        <p:nvSpPr>
          <p:cNvPr id="14" name="Shape 12">
            <a:hlinkClick r:id="rId1" tooltip="Appendix" action="ppaction://hlinksldjump"/>
          </p:cNvPr>
          <p:cNvSpPr/>
          <p:nvPr/>
        </p:nvSpPr>
        <p:spPr>
          <a:xfrm>
            <a:off x="10863072" y="25603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15" name="Text 13">
            <a:hlinkClick r:id="rId2" tooltip="Appendix" action="ppaction://hlinksldjump"/>
          </p:cNvPr>
          <p:cNvSpPr/>
          <p:nvPr/>
        </p:nvSpPr>
        <p:spPr>
          <a:xfrm>
            <a:off x="10863072" y="2788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action="ppaction://hlinksldjump" tooltip="Appendi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Appendix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result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Paired historical benchmark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014984"/>
            <a:ext cx="10835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49808" y="1234440"/>
            <a:ext cx="10835640" cy="4434840"/>
          </a:xfrm>
          <a:prstGeom prst="roundRect">
            <a:avLst>
              <a:gd name="adj" fmla="val 619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pic>
        <p:nvPicPr>
          <p:cNvPr id="7" name="Image 0" descr="/Users/prashgarg/Library/CloudStorage/Dropbox-PrashantGarg/Prashant Garg/GraphDir/outputs/paper/149_dual_family_main_pairing/dual_family_main_bench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8500" y="1289304"/>
            <a:ext cx="5818256" cy="43251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492240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Graph-based screening improves on popularity in both families.</a:t>
            </a:r>
            <a:endParaRPr lang="en-US" sz="700" dirty="0"/>
          </a:p>
        </p:txBody>
      </p:sp>
      <p:sp>
        <p:nvSpPr>
          <p:cNvPr id="9" name="Shape 6">
            <a:hlinkClick r:id="rId2" tooltip="Appendix" action="ppaction://hlinksldjump"/>
          </p:cNvPr>
          <p:cNvSpPr/>
          <p:nvPr/>
        </p:nvSpPr>
        <p:spPr>
          <a:xfrm>
            <a:off x="10863072" y="25603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10" name="Text 7">
            <a:hlinkClick r:id="rId3" tooltip="Appendix" action="ppaction://hlinksldjump"/>
          </p:cNvPr>
          <p:cNvSpPr/>
          <p:nvPr/>
        </p:nvSpPr>
        <p:spPr>
          <a:xfrm>
            <a:off x="10863072" y="2788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action="ppaction://hlinksldjump" tooltip="Appendi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Appendix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Substantive result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literature moves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014984"/>
            <a:ext cx="10835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49808" y="1234440"/>
            <a:ext cx="10835640" cy="4434840"/>
          </a:xfrm>
          <a:prstGeom prst="roundRect">
            <a:avLst>
              <a:gd name="adj" fmla="val 619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pic>
        <p:nvPicPr>
          <p:cNvPr id="7" name="Image 0" descr="/Users/prashgarg/Library/CloudStorage/Dropbox-PrashantGarg/Prashant Garg/GraphDir/outputs/paper/138_path_evolution_refresh/figures/path_evolution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6468" y="1289304"/>
            <a:ext cx="8282320" cy="43251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492240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literature more often thickens mechanisms than it later states locally implied direct links.</a:t>
            </a:r>
            <a:endParaRPr lang="en-US" sz="700" dirty="0"/>
          </a:p>
        </p:txBody>
      </p:sp>
      <p:sp>
        <p:nvSpPr>
          <p:cNvPr id="9" name="Shape 6">
            <a:hlinkClick r:id="rId2" tooltip="Appendix" action="ppaction://hlinksldjump"/>
          </p:cNvPr>
          <p:cNvSpPr/>
          <p:nvPr/>
        </p:nvSpPr>
        <p:spPr>
          <a:xfrm>
            <a:off x="10863072" y="25603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10" name="Text 7">
            <a:hlinkClick r:id="rId3" tooltip="Appendix" action="ppaction://hlinksldjump"/>
          </p:cNvPr>
          <p:cNvSpPr/>
          <p:nvPr/>
        </p:nvSpPr>
        <p:spPr>
          <a:xfrm>
            <a:off x="10863072" y="2788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action="ppaction://hlinksldjump" tooltip="Appendi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Appendix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 empirical 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the graph helps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014984"/>
            <a:ext cx="10835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49808" y="1234440"/>
            <a:ext cx="10835640" cy="4434840"/>
          </a:xfrm>
          <a:prstGeom prst="roundRect">
            <a:avLst>
              <a:gd name="adj" fmla="val 619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pic>
        <p:nvPicPr>
          <p:cNvPr id="7" name="Image 0" descr="/Users/prashgarg/Library/CloudStorage/Dropbox-PrashantGarg/Prashant Garg/GraphDir/outputs/paper/154_dual_family_extension_pairing/dual_family_heterogeneity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8930" y="1289304"/>
            <a:ext cx="6897396" cy="43251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492240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stays secondary to the main historical and substantive comparison.</a:t>
            </a:r>
            <a:endParaRPr lang="en-US" sz="700" dirty="0"/>
          </a:p>
        </p:txBody>
      </p:sp>
      <p:sp>
        <p:nvSpPr>
          <p:cNvPr id="9" name="Shape 6">
            <a:hlinkClick r:id="rId2" tooltip="Appendix" action="ppaction://hlinksldjump"/>
          </p:cNvPr>
          <p:cNvSpPr/>
          <p:nvPr/>
        </p:nvSpPr>
        <p:spPr>
          <a:xfrm>
            <a:off x="10863072" y="25603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10" name="Text 7">
            <a:hlinkClick r:id="rId3" tooltip="Appendix" action="ppaction://hlinksldjump"/>
          </p:cNvPr>
          <p:cNvSpPr/>
          <p:nvPr/>
        </p:nvSpPr>
        <p:spPr>
          <a:xfrm>
            <a:off x="10863072" y="2788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action="ppaction://hlinksldjump" tooltip="Appendi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Appendix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families differ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353312"/>
            <a:ext cx="4983480" cy="3566160"/>
          </a:xfrm>
          <a:prstGeom prst="roundRect">
            <a:avLst>
              <a:gd name="adj" fmla="val 1282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62763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6DA9"/>
                </a:solidFill>
              </a:rPr>
              <a:t>Direct-to-path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42416" y="2048256"/>
            <a:ext cx="73152" cy="73152"/>
          </a:xfrm>
          <a:prstGeom prst="ellipse">
            <a:avLst/>
          </a:prstGeom>
          <a:solidFill>
            <a:srgbClr val="426DA9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975104"/>
            <a:ext cx="4197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smaller candidate universe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42416" y="2852928"/>
            <a:ext cx="73152" cy="73152"/>
          </a:xfrm>
          <a:prstGeom prst="ellipse">
            <a:avLst/>
          </a:prstGeom>
          <a:solidFill>
            <a:srgbClr val="426DA9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779776"/>
            <a:ext cx="4197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later realizations per shortlist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42416" y="3657600"/>
            <a:ext cx="73152" cy="73152"/>
          </a:xfrm>
          <a:prstGeom prst="ellipse">
            <a:avLst/>
          </a:prstGeom>
          <a:solidFill>
            <a:srgbClr val="426DA9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584448"/>
            <a:ext cx="4197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event: a mechanism appears around an already known relation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1353312"/>
            <a:ext cx="4983480" cy="3566160"/>
          </a:xfrm>
          <a:prstGeom prst="roundRect">
            <a:avLst>
              <a:gd name="adj" fmla="val 1282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47104" y="162763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6849"/>
                </a:solidFill>
              </a:rPr>
              <a:t>Path-to-direct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47104" y="2048256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3408" y="1975104"/>
            <a:ext cx="4197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larger candidate universe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47104" y="2852928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93408" y="2779776"/>
            <a:ext cx="4197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recall of all later-realized links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47104" y="3657600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93408" y="3584448"/>
            <a:ext cx="4197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event: a locally supported direct relation later becomes explicit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53766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F38"/>
                </a:solidFill>
              </a:rPr>
              <a:t>These are different denominators, not inconsistent results. One family is better for finding high-hit mechanism thickening; the other is better for recovering a broader set of later explicit links.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6492240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Direct-to-path and path-to-direct are not mirror images; they reward different kinds of success.</a:t>
            </a:r>
            <a:endParaRPr lang="en-US" sz="700" dirty="0"/>
          </a:p>
        </p:txBody>
      </p:sp>
      <p:sp>
        <p:nvSpPr>
          <p:cNvPr id="23" name="Shape 21">
            <a:hlinkClick r:id="rId1" tooltip="Appendix" action="ppaction://hlinksldjump"/>
          </p:cNvPr>
          <p:cNvSpPr/>
          <p:nvPr/>
        </p:nvSpPr>
        <p:spPr>
          <a:xfrm>
            <a:off x="10863072" y="25603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24" name="Text 22">
            <a:hlinkClick r:id="rId2" tooltip="Appendix" action="ppaction://hlinksldjump"/>
          </p:cNvPr>
          <p:cNvSpPr/>
          <p:nvPr/>
        </p:nvSpPr>
        <p:spPr>
          <a:xfrm>
            <a:off x="10863072" y="2788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action="ppaction://hlinksldjump" tooltip="Appendi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Appendix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frontier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graph surfaces now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78992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280"/>
                </a:solidFill>
              </a:rPr>
              <a:t>Illustrative cleaned renderings of current frontier items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04672" y="1325880"/>
            <a:ext cx="4983480" cy="4096512"/>
          </a:xfrm>
          <a:prstGeom prst="roundRect">
            <a:avLst>
              <a:gd name="adj" fmla="val 1116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159105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6DA9"/>
                </a:solidFill>
              </a:rPr>
              <a:t>Direct-to-path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2416" y="1810512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280"/>
                </a:solidFill>
              </a:rPr>
              <a:t>known relation, missing mechanism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042416" y="2231136"/>
            <a:ext cx="73152" cy="73152"/>
          </a:xfrm>
          <a:prstGeom prst="ellipse">
            <a:avLst/>
          </a:prstGeom>
          <a:solidFill>
            <a:srgbClr val="426DA9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157984"/>
            <a:ext cx="4197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Could digital financial inclusion support employment through labour matching or market access?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1042416" y="3054096"/>
            <a:ext cx="73152" cy="73152"/>
          </a:xfrm>
          <a:prstGeom prst="ellipse">
            <a:avLst/>
          </a:prstGeom>
          <a:solidFill>
            <a:srgbClr val="426DA9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980944"/>
            <a:ext cx="4197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Could tax refunds lift productivity through liquidity and investment?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1042416" y="3877056"/>
            <a:ext cx="73152" cy="73152"/>
          </a:xfrm>
          <a:prstGeom prst="ellipse">
            <a:avLst/>
          </a:prstGeom>
          <a:solidFill>
            <a:srgbClr val="426DA9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803904"/>
            <a:ext cx="4197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Could nutrition information shift willingness to pay through health-salience channels?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6309360" y="1325880"/>
            <a:ext cx="4983480" cy="4096512"/>
          </a:xfrm>
          <a:prstGeom prst="roundRect">
            <a:avLst>
              <a:gd name="adj" fmla="val 1116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159105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6849"/>
                </a:solidFill>
              </a:rPr>
              <a:t>Path-to-direct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47104" y="1810512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280"/>
                </a:solidFill>
              </a:rPr>
              <a:t>nearby support, missing direct relation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547104" y="2231136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3408" y="2157984"/>
            <a:ext cx="4197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Could trade liberalization raise R&amp;D?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6547104" y="3054096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93408" y="2980944"/>
            <a:ext cx="4197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Could the digital economy strengthen environmental regulation?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6547104" y="3877056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93408" y="3803904"/>
            <a:ext cx="4197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Could renewable energy reshape urbanization?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502920" y="6492240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path-to-direct side is already cleaner publicly. The direct-to-path side is promising but still needs more manual relabeling.</a:t>
            </a:r>
            <a:endParaRPr lang="en-US" sz="700" dirty="0"/>
          </a:p>
        </p:txBody>
      </p:sp>
      <p:sp>
        <p:nvSpPr>
          <p:cNvPr id="25" name="Shape 23">
            <a:hlinkClick r:id="rId1" tooltip="Appendix" action="ppaction://hlinksldjump"/>
          </p:cNvPr>
          <p:cNvSpPr/>
          <p:nvPr/>
        </p:nvSpPr>
        <p:spPr>
          <a:xfrm>
            <a:off x="10863072" y="25603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26" name="Text 24">
            <a:hlinkClick r:id="rId2" tooltip="Appendix" action="ppaction://hlinksldjump"/>
          </p:cNvPr>
          <p:cNvSpPr/>
          <p:nvPr/>
        </p:nvSpPr>
        <p:spPr>
          <a:xfrm>
            <a:off x="10863072" y="2788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action="ppaction://hlinksldjump" tooltip="Appendi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Appendix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changes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499616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426464"/>
            <a:ext cx="5477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choice can be partly disciplined rather than treated as pure intuition.</a:t>
            </a:r>
            <a:endParaRPr lang="en-US" sz="1090" dirty="0"/>
          </a:p>
        </p:txBody>
      </p:sp>
      <p:sp>
        <p:nvSpPr>
          <p:cNvPr id="7" name="Shape 5"/>
          <p:cNvSpPr/>
          <p:nvPr/>
        </p:nvSpPr>
        <p:spPr>
          <a:xfrm>
            <a:off x="841248" y="2304288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231136"/>
            <a:ext cx="5477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graph is most useful for directing scarce reading time, not replacing judgment.</a:t>
            </a:r>
            <a:endParaRPr lang="en-US" sz="1090" dirty="0"/>
          </a:p>
        </p:txBody>
      </p:sp>
      <p:sp>
        <p:nvSpPr>
          <p:cNvPr id="9" name="Shape 7"/>
          <p:cNvSpPr/>
          <p:nvPr/>
        </p:nvSpPr>
        <p:spPr>
          <a:xfrm>
            <a:off x="841248" y="3108960"/>
            <a:ext cx="73152" cy="73152"/>
          </a:xfrm>
          <a:prstGeom prst="ellipse">
            <a:avLst/>
          </a:prstGeom>
          <a:solidFill>
            <a:srgbClr val="C96849"/>
          </a:solidFill>
          <a:ln w="12700">
            <a:solidFill>
              <a:srgbClr val="C968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035808"/>
            <a:ext cx="5477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 thickening appears to be a central mode of scientific progress.</a:t>
            </a:r>
            <a:endParaRPr lang="en-US" sz="1090" dirty="0"/>
          </a:p>
        </p:txBody>
      </p:sp>
      <p:sp>
        <p:nvSpPr>
          <p:cNvPr id="11" name="Shape 9"/>
          <p:cNvSpPr/>
          <p:nvPr/>
        </p:nvSpPr>
        <p:spPr>
          <a:xfrm>
            <a:off x="6656832" y="1325880"/>
            <a:ext cx="4754880" cy="3246120"/>
          </a:xfrm>
          <a:prstGeom prst="roundRect">
            <a:avLst>
              <a:gd name="adj" fmla="val 1408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527048"/>
            <a:ext cx="4352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reading rule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0" y="1746504"/>
            <a:ext cx="4352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 would actually use this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58000" y="2112264"/>
            <a:ext cx="73152" cy="73152"/>
          </a:xfrm>
          <a:prstGeom prst="ellipse">
            <a:avLst/>
          </a:prstGeom>
          <a:solidFill>
            <a:srgbClr val="537A66"/>
          </a:solidFill>
          <a:ln w="12700">
            <a:solidFill>
              <a:srgbClr val="537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04304" y="203911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graph to choose what to inspect first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0" y="2807208"/>
            <a:ext cx="73152" cy="73152"/>
          </a:xfrm>
          <a:prstGeom prst="ellipse">
            <a:avLst/>
          </a:prstGeom>
          <a:solidFill>
            <a:srgbClr val="537A66"/>
          </a:solidFill>
          <a:ln w="12700">
            <a:solidFill>
              <a:srgbClr val="537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04304" y="273405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two families rather than forcing one object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3502152"/>
            <a:ext cx="73152" cy="73152"/>
          </a:xfrm>
          <a:prstGeom prst="ellipse">
            <a:avLst/>
          </a:prstGeom>
          <a:solidFill>
            <a:srgbClr val="537A66"/>
          </a:solidFill>
          <a:ln w="12700">
            <a:solidFill>
              <a:srgbClr val="537A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04304" y="342900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ranked questions as a disciplined shortlist, not an oracle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6492240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slide to linger on in discussion.</a:t>
            </a:r>
            <a:endParaRPr lang="en-US" sz="700" dirty="0"/>
          </a:p>
        </p:txBody>
      </p:sp>
      <p:sp>
        <p:nvSpPr>
          <p:cNvPr id="21" name="Shape 19">
            <a:hlinkClick r:id="rId1" tooltip="Appendix" action="ppaction://hlinksldjump"/>
          </p:cNvPr>
          <p:cNvSpPr/>
          <p:nvPr/>
        </p:nvSpPr>
        <p:spPr>
          <a:xfrm>
            <a:off x="10863072" y="25603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22" name="Text 20">
            <a:hlinkClick r:id="rId2" tooltip="Appendix" action="ppaction://hlinksldjump"/>
          </p:cNvPr>
          <p:cNvSpPr/>
          <p:nvPr/>
        </p:nvSpPr>
        <p:spPr>
          <a:xfrm>
            <a:off x="10863072" y="2788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action="ppaction://hlinksldjump" tooltip="Appendi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Appendix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does not do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417320"/>
            <a:ext cx="5074920" cy="1417320"/>
          </a:xfrm>
          <a:prstGeom prst="roundRect">
            <a:avLst>
              <a:gd name="adj" fmla="val 3226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" y="161848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8"/>
                </a:solidFill>
              </a:rPr>
              <a:t>Not all imagination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0704" y="194767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B2F38"/>
                </a:solidFill>
              </a:rPr>
              <a:t>It does not rank all scientific imagination.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6144768" y="1417320"/>
            <a:ext cx="5074920" cy="1417320"/>
          </a:xfrm>
          <a:prstGeom prst="roundRect">
            <a:avLst>
              <a:gd name="adj" fmla="val 3226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64224" y="161848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8"/>
                </a:solidFill>
              </a:rPr>
              <a:t>Imperfect identity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64224" y="194767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B2F38"/>
                </a:solidFill>
              </a:rPr>
              <a:t>It does not solve concept identity perfectly.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841248" y="3383280"/>
            <a:ext cx="5074920" cy="1417320"/>
          </a:xfrm>
          <a:prstGeom prst="roundRect">
            <a:avLst>
              <a:gd name="adj" fmla="val 3226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5844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8"/>
                </a:solidFill>
              </a:rPr>
              <a:t>Judgment still matters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60704" y="391363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B2F38"/>
                </a:solidFill>
              </a:rPr>
              <a:t>It does not remove the need for field knowledge or judgment.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6144768" y="3383280"/>
            <a:ext cx="5074920" cy="1417320"/>
          </a:xfrm>
          <a:prstGeom prst="roundRect">
            <a:avLst>
              <a:gd name="adj" fmla="val 3226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35844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F38"/>
                </a:solidFill>
              </a:rPr>
              <a:t>Cleanly dateable only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64224" y="391363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B2F38"/>
                </a:solidFill>
              </a:rPr>
              <a:t>It benchmarks only objects that can be dated cleanly in the observed literature.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502920" y="6492240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limits are part of the design, not afterthoughts.</a:t>
            </a:r>
            <a:endParaRPr lang="en-US" sz="700" dirty="0"/>
          </a:p>
        </p:txBody>
      </p:sp>
      <p:sp>
        <p:nvSpPr>
          <p:cNvPr id="18" name="Shape 16">
            <a:hlinkClick r:id="rId1" tooltip="Appendix" action="ppaction://hlinksldjump"/>
          </p:cNvPr>
          <p:cNvSpPr/>
          <p:nvPr/>
        </p:nvSpPr>
        <p:spPr>
          <a:xfrm>
            <a:off x="10863072" y="25603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19" name="Text 17">
            <a:hlinkClick r:id="rId2" tooltip="Appendix" action="ppaction://hlinksldjump"/>
          </p:cNvPr>
          <p:cNvSpPr/>
          <p:nvPr/>
        </p:nvSpPr>
        <p:spPr>
          <a:xfrm>
            <a:off x="10863072" y="2788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action="ppaction://hlinksldjump" tooltip="Appendi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Appendix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this can go next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417320"/>
            <a:ext cx="5074920" cy="1417320"/>
          </a:xfrm>
          <a:prstGeom prst="roundRect">
            <a:avLst>
              <a:gd name="adj" fmla="val 3226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" y="161848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6DA9"/>
                </a:solidFill>
              </a:rPr>
              <a:t>Longer path support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0704" y="192938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B2F38"/>
                </a:solidFill>
              </a:rPr>
              <a:t>ask whether slightly more distant support improves novelty without losing too much coherence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6144768" y="1417320"/>
            <a:ext cx="5074920" cy="1417320"/>
          </a:xfrm>
          <a:prstGeom prst="roundRect">
            <a:avLst>
              <a:gd name="adj" fmla="val 3226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64224" y="161848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6DA9"/>
                </a:solidFill>
              </a:rPr>
              <a:t>Context extension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64224" y="192938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B2F38"/>
                </a:solidFill>
              </a:rPr>
              <a:t>take known relations and ask where they remain under-tested across settings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841248" y="3383280"/>
            <a:ext cx="5074920" cy="1417320"/>
          </a:xfrm>
          <a:prstGeom prst="roundRect">
            <a:avLst>
              <a:gd name="adj" fmla="val 3226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58444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6DA9"/>
                </a:solidFill>
              </a:rPr>
              <a:t>LLM workflow layers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60704" y="389534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B2F38"/>
                </a:solidFill>
              </a:rPr>
              <a:t>use screening models as a practical refinement layer on top of graph-ranked shortlists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6144768" y="3383280"/>
            <a:ext cx="5074920" cy="1417320"/>
          </a:xfrm>
          <a:prstGeom prst="roundRect">
            <a:avLst>
              <a:gd name="adj" fmla="val 3226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358444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6DA9"/>
                </a:solidFill>
              </a:rPr>
              <a:t>Node activation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64224" y="389534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B2F38"/>
                </a:solidFill>
              </a:rPr>
              <a:t>treat the appearance of entirely new concepts as a separate frontier object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02920" y="6492240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research directions, not slide filler.</a:t>
            </a:r>
            <a:endParaRPr lang="en-US" sz="700" dirty="0"/>
          </a:p>
        </p:txBody>
      </p:sp>
      <p:sp>
        <p:nvSpPr>
          <p:cNvPr id="18" name="Shape 16">
            <a:hlinkClick r:id="rId1" tooltip="Appendix" action="ppaction://hlinksldjump"/>
          </p:cNvPr>
          <p:cNvSpPr/>
          <p:nvPr/>
        </p:nvSpPr>
        <p:spPr>
          <a:xfrm>
            <a:off x="10863072" y="25603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19" name="Text 17">
            <a:hlinkClick r:id="rId2" tooltip="Appendix" action="ppaction://hlinksldjump"/>
          </p:cNvPr>
          <p:cNvSpPr/>
          <p:nvPr/>
        </p:nvSpPr>
        <p:spPr>
          <a:xfrm>
            <a:off x="10863072" y="2788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action="ppaction://hlinksldjump" tooltip="Appendi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Appendix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536192"/>
            <a:ext cx="3200400" cy="1965960"/>
          </a:xfrm>
          <a:prstGeom prst="roundRect">
            <a:avLst>
              <a:gd name="adj" fmla="val 2326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77393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6DA9"/>
                </a:solidFill>
              </a:rPr>
              <a:t>Build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2416" y="2157984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B2F38"/>
                </a:solidFill>
              </a:rPr>
              <a:t>Build a dated graph from published research.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498848" y="1536192"/>
            <a:ext cx="3200400" cy="1965960"/>
          </a:xfrm>
          <a:prstGeom prst="roundRect">
            <a:avLst>
              <a:gd name="adj" fmla="val 2326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0016" y="177393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6DA9"/>
                </a:solidFill>
              </a:rPr>
              <a:t>Test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0016" y="2157984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B2F38"/>
                </a:solidFill>
              </a:rPr>
              <a:t>Use it to rank still-open next questions prospectively.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8156448" y="1536192"/>
            <a:ext cx="3200400" cy="1965960"/>
          </a:xfrm>
          <a:prstGeom prst="roundRect">
            <a:avLst>
              <a:gd name="adj" fmla="val 2326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57616" y="177393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6849"/>
                </a:solidFill>
              </a:rPr>
              <a:t>Learn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57616" y="2157984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B2F38"/>
                </a:solidFill>
              </a:rPr>
              <a:t>Learn not only whether the graph works, but what kind of scientific movement is more common.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1051560" y="416052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i="1" dirty="0">
                <a:solidFill>
                  <a:srgbClr val="2B2F38"/>
                </a:solidFill>
              </a:rPr>
              <a:t>The benchmark is the credibility layer. The contribution is the claim about how science moves and how researchers can choose what to inspect next.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502920" y="6492240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seminar version.</a:t>
            </a:r>
            <a:endParaRPr lang="en-US" sz="700" dirty="0"/>
          </a:p>
        </p:txBody>
      </p:sp>
      <p:sp>
        <p:nvSpPr>
          <p:cNvPr id="16" name="Shape 14">
            <a:hlinkClick r:id="rId1" tooltip="Appendix" action="ppaction://hlinksldjump"/>
          </p:cNvPr>
          <p:cNvSpPr/>
          <p:nvPr/>
        </p:nvSpPr>
        <p:spPr>
          <a:xfrm>
            <a:off x="10863072" y="256032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17" name="Text 15">
            <a:hlinkClick r:id="rId2" tooltip="Appendix" action="ppaction://hlinksldjump"/>
          </p:cNvPr>
          <p:cNvSpPr/>
          <p:nvPr/>
        </p:nvSpPr>
        <p:spPr>
          <a:xfrm>
            <a:off x="10863072" y="2788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action="ppaction://hlinksldjump" tooltip="Appendi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Appendix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 benchmark detail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014984"/>
            <a:ext cx="10835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49808" y="1234440"/>
            <a:ext cx="10835640" cy="4434840"/>
          </a:xfrm>
          <a:prstGeom prst="roundRect">
            <a:avLst>
              <a:gd name="adj" fmla="val 619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pic>
        <p:nvPicPr>
          <p:cNvPr id="7" name="Image 0" descr="/Users/prashgarg/Library/CloudStorage/Dropbox-PrashantGarg/Prashant Garg/GraphDir/outputs/paper/149_dual_family_main_pairing/dual_family_main_bench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8500" y="1289304"/>
            <a:ext cx="5818256" cy="43251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492240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Appendix: extra benchmark detail.</a:t>
            </a:r>
            <a:endParaRPr lang="en-US" sz="700" dirty="0"/>
          </a:p>
        </p:txBody>
      </p:sp>
      <p:sp>
        <p:nvSpPr>
          <p:cNvPr id="9" name="Shape 6">
            <a:hlinkClick r:id="rId2" tooltip="Back to main" action="ppaction://hlinksldjump"/>
          </p:cNvPr>
          <p:cNvSpPr/>
          <p:nvPr/>
        </p:nvSpPr>
        <p:spPr>
          <a:xfrm>
            <a:off x="10588752" y="256032"/>
            <a:ext cx="109728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10" name="Text 7">
            <a:hlinkClick r:id="rId3" tooltip="Back to main" action="ppaction://hlinksldjump"/>
          </p:cNvPr>
          <p:cNvSpPr/>
          <p:nvPr/>
        </p:nvSpPr>
        <p:spPr>
          <a:xfrm>
            <a:off x="10588752" y="27889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action="ppaction://hlinksldjump" tooltip="Back to m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main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frontier and usefulness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014984"/>
            <a:ext cx="10835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49808" y="1234440"/>
            <a:ext cx="10835640" cy="4434840"/>
          </a:xfrm>
          <a:prstGeom prst="roundRect">
            <a:avLst>
              <a:gd name="adj" fmla="val 619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pic>
        <p:nvPicPr>
          <p:cNvPr id="7" name="Image 0" descr="/Users/prashgarg/Library/CloudStorage/Dropbox-PrashantGarg/Prashant Garg/GraphDir/outputs/paper/164_paired_historical_usefulness_comparison/paired_historical_usefulness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4505" y="1289304"/>
            <a:ext cx="8026245" cy="43251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492240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Appendix: current frontier and usefulness.</a:t>
            </a:r>
            <a:endParaRPr lang="en-US" sz="700" dirty="0"/>
          </a:p>
        </p:txBody>
      </p:sp>
      <p:sp>
        <p:nvSpPr>
          <p:cNvPr id="9" name="Shape 6">
            <a:hlinkClick r:id="rId2" tooltip="Back to main" action="ppaction://hlinksldjump"/>
          </p:cNvPr>
          <p:cNvSpPr/>
          <p:nvPr/>
        </p:nvSpPr>
        <p:spPr>
          <a:xfrm>
            <a:off x="10588752" y="256032"/>
            <a:ext cx="109728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10" name="Text 7">
            <a:hlinkClick r:id="rId3" tooltip="Back to main" action="ppaction://hlinksldjump"/>
          </p:cNvPr>
          <p:cNvSpPr/>
          <p:nvPr/>
        </p:nvSpPr>
        <p:spPr>
          <a:xfrm>
            <a:off x="10588752" y="27889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action="ppaction://hlinksldjump" tooltip="Back to m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main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F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evolution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09960" cy="0"/>
          </a:xfrm>
          <a:prstGeom prst="line">
            <a:avLst/>
          </a:prstGeom>
          <a:noFill/>
          <a:ln w="12700">
            <a:solidFill>
              <a:srgbClr val="D8C6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014984"/>
            <a:ext cx="10835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49808" y="1234440"/>
            <a:ext cx="10835640" cy="4434840"/>
          </a:xfrm>
          <a:prstGeom prst="roundRect">
            <a:avLst>
              <a:gd name="adj" fmla="val 619"/>
            </a:avLst>
          </a:prstGeom>
          <a:solidFill>
            <a:srgbClr val="FFFDFC"/>
          </a:solidFill>
          <a:ln w="12700">
            <a:solidFill>
              <a:srgbClr val="D8C6A2"/>
            </a:solidFill>
            <a:prstDash val="solid"/>
          </a:ln>
        </p:spPr>
      </p:sp>
      <p:pic>
        <p:nvPicPr>
          <p:cNvPr id="7" name="Image 0" descr="/Users/prashgarg/Library/CloudStorage/Dropbox-PrashantGarg/Prashant Garg/GraphDir/outputs/paper/155_graph_evolution_appendix/graph_evolution_over_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6570" y="1289304"/>
            <a:ext cx="7282117" cy="43251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492240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Appendix: graph evolution.</a:t>
            </a:r>
            <a:endParaRPr lang="en-US" sz="700" dirty="0"/>
          </a:p>
        </p:txBody>
      </p:sp>
      <p:sp>
        <p:nvSpPr>
          <p:cNvPr id="9" name="Shape 6">
            <a:hlinkClick r:id="rId2" tooltip="Back to main" action="ppaction://hlinksldjump"/>
          </p:cNvPr>
          <p:cNvSpPr/>
          <p:nvPr/>
        </p:nvSpPr>
        <p:spPr>
          <a:xfrm>
            <a:off x="10588752" y="256032"/>
            <a:ext cx="1097280" cy="219456"/>
          </a:xfrm>
          <a:prstGeom prst="roundRect">
            <a:avLst>
              <a:gd name="adj" fmla="val 12500"/>
            </a:avLst>
          </a:prstGeom>
          <a:solidFill>
            <a:srgbClr val="DCE6F4"/>
          </a:solidFill>
          <a:ln w="12700">
            <a:solidFill>
              <a:srgbClr val="426DA9"/>
            </a:solidFill>
            <a:prstDash val="solid"/>
          </a:ln>
        </p:spPr>
      </p:sp>
      <p:sp>
        <p:nvSpPr>
          <p:cNvPr id="10" name="Text 7">
            <a:hlinkClick r:id="rId3" tooltip="Back to main" action="ppaction://hlinksldjump"/>
          </p:cNvPr>
          <p:cNvSpPr/>
          <p:nvPr/>
        </p:nvSpPr>
        <p:spPr>
          <a:xfrm>
            <a:off x="10588752" y="27889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u="sng" dirty="0">
                <a:solidFill>
                  <a:srgbClr val="426DA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action="ppaction://hlinksldjump" tooltip="Back to ma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main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Imperial College London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Should Science Ask Next? (Seminar)</dc:title>
  <dc:subject>FrontierGraph seminar deck</dc:subject>
  <dc:creator>Prashant Garg</dc:creator>
  <cp:lastModifiedBy>Prashant Garg</cp:lastModifiedBy>
  <cp:revision>1</cp:revision>
  <dcterms:created xsi:type="dcterms:W3CDTF">2026-04-12T18:06:42Z</dcterms:created>
  <dcterms:modified xsi:type="dcterms:W3CDTF">2026-04-12T18:06:42Z</dcterms:modified>
</cp:coreProperties>
</file>